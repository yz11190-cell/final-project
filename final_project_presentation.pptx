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hNtOEgr/53v7uPDl3xoautg1gQ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1717050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Predicting S&amp;P 500 Stock Outperformance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187050"/>
            <a:ext cx="64008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Data Bootcamp Final Project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Kashish Hundia &amp; John Zhang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try to predict stock outperformance?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investors aim to beat the market benchmark (SPY)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Firm fundamentals may contain information about future performance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Question: can we use company financial data to identify likely outperformers?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Objective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Primary goal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 whether an S&amp;P 500 stock will outperform SPY over the next 12 months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 the problem as a binary classification task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Extend the exploratory analysis from the midterm into a predictive setting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Sources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S&amp;P 500 constituents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of companies obtained from Wikipedia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Firm-level financial data and historical prices from yfinance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data is publicly available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Financial Features Used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categories of features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Valuation metrics: P/E, price-to-book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Profitability metrics: margins, ROE, ROA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Leverage and balance-sheet measures: debt, cash, enterprise value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 indicator: beta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 Variable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 of outperformance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forward 12-month stock return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 stock return to SPY return over same period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 = 1 if stock return &gt; SPY, otherwise 0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Resulting dataset is imbalanced (fewer outperformers)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Preparation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Preprocessing steps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Drop observations missing key fundamentals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ratio-based features (e.g., debt-to-market-cap)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One-hot encode sector variable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Handle missing values using median imputation during modeling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Models and Methods</a:t>
            </a:r>
            <a:endParaRPr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Models evaluated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Gradient Boosting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Tree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 Metrics</a:t>
            </a:r>
            <a:endParaRPr/>
          </a:p>
        </p:txBody>
      </p:sp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models are evaluated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Precision and recall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F1 score (important due to class imbalance)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ROC-AUC (ability to rank outperformers vs underperformers)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Comparison Results</a:t>
            </a:r>
            <a:endParaRPr/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457200" y="3798500"/>
            <a:ext cx="8229600" cy="28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Overall performance summary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Logistic Regression achieves highest ROC-AUC (~0.75)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Gradient Boosting achieves highest F1 score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Tree-based ensemble models outperform simpler baselines</a:t>
            </a:r>
            <a:endParaRPr/>
          </a:p>
        </p:txBody>
      </p:sp>
      <p:pic>
        <p:nvPicPr>
          <p:cNvPr id="140" name="Google Shape;140;p10" title="Screenshot 2025-12-18 at 10.32.41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3475" y="1295525"/>
            <a:ext cx="687705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Confusion Matrix (Logistic Regression)</a:t>
            </a:r>
            <a:endParaRPr/>
          </a:p>
        </p:txBody>
      </p:sp>
      <p:sp>
        <p:nvSpPr>
          <p:cNvPr id="146" name="Google Shape;146;p11"/>
          <p:cNvSpPr txBox="1"/>
          <p:nvPr>
            <p:ph idx="1" type="body"/>
          </p:nvPr>
        </p:nvSpPr>
        <p:spPr>
          <a:xfrm>
            <a:off x="457200" y="1600200"/>
            <a:ext cx="5070300" cy="50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the confusion matrix shows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correctly identifies most underperforming stocks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misses a significant number of outperformers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Indicates a conservative prediction strategy</a:t>
            </a:r>
            <a:endParaRPr/>
          </a:p>
        </p:txBody>
      </p:sp>
      <p:pic>
        <p:nvPicPr>
          <p:cNvPr id="147" name="Google Shape;147;p11" title="Screenshot 2025-12-18 at 10.33.54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7700" y="1797500"/>
            <a:ext cx="3687550" cy="336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ROC Curve Interpretation</a:t>
            </a:r>
            <a:endParaRPr/>
          </a:p>
        </p:txBody>
      </p:sp>
      <p:sp>
        <p:nvSpPr>
          <p:cNvPr id="153" name="Google Shape;15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Understanding the ROC curve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ROC-AUC of ~0.75 indicates performance above random guessing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is better at ranking stocks than making hard classifications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Useful for screening or ranking applications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Interpretation</a:t>
            </a:r>
            <a:endParaRPr/>
          </a:p>
        </p:txBody>
      </p:sp>
      <p:sp>
        <p:nvSpPr>
          <p:cNvPr id="159" name="Google Shape;159;p13"/>
          <p:cNvSpPr txBox="1"/>
          <p:nvPr>
            <p:ph idx="1" type="body"/>
          </p:nvPr>
        </p:nvSpPr>
        <p:spPr>
          <a:xfrm>
            <a:off x="457200" y="1468675"/>
            <a:ext cx="4628700" cy="51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patterns from model coefficients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associations: enterprise value, revenue, free cash flow, earnings growth etc</a:t>
            </a:r>
            <a:r>
              <a:rPr lang="en-US"/>
              <a:t>…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 associations: dividend yield etc</a:t>
            </a:r>
            <a:r>
              <a:rPr lang="en-US"/>
              <a:t>…</a:t>
            </a:r>
            <a:endParaRPr/>
          </a:p>
        </p:txBody>
      </p:sp>
      <p:pic>
        <p:nvPicPr>
          <p:cNvPr id="160" name="Google Shape;160;p13" title="Screenshot 2025-12-18 at 10.35.14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5898" y="1600200"/>
            <a:ext cx="3882700" cy="418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/>
          </a:p>
        </p:txBody>
      </p:sp>
      <p:sp>
        <p:nvSpPr>
          <p:cNvPr id="166" name="Google Shape;166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we learned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Financial fundamentals contain some predictive signal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Predicting market outperformance is inherently difficult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Models perform better at ruling out underperformers than finding winners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/>
          </a:p>
        </p:txBody>
      </p:sp>
      <p:sp>
        <p:nvSpPr>
          <p:cNvPr id="172" name="Google Shape;172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 caveats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Fundamental data is a snapshot, not time-stamped historical fundamentals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returns depend on many external factors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 should not be interpreted as trading advice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/>
          </a:p>
        </p:txBody>
      </p:sp>
      <p:sp>
        <p:nvSpPr>
          <p:cNvPr id="178" name="Google Shape;178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extensions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time-stamped quarterly fundamentals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Evaluate performance across multiple time periods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Incorporate macroeconomic indicators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alternative model architectures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